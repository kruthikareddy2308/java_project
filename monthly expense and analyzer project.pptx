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4" r:id="rId8"/>
    <p:sldId id="269" r:id="rId9"/>
    <p:sldId id="262" r:id="rId10"/>
    <p:sldId id="267" r:id="rId11"/>
  </p:sldIdLst>
  <p:sldSz cx="18288000" cy="10287000"/>
  <p:notesSz cx="6858000" cy="9144000"/>
  <p:embeddedFontLst>
    <p:embeddedFont>
      <p:font typeface="Alexandria Bold" charset="-78"/>
      <p:regular r:id="rId12"/>
    </p:embeddedFont>
    <p:embeddedFont>
      <p:font typeface="Calibri" pitchFamily="34" charset="0"/>
      <p:regular r:id="rId13"/>
      <p:bold r:id="rId14"/>
      <p:italic r:id="rId15"/>
      <p:boldItalic r:id="rId16"/>
    </p:embeddedFont>
    <p:embeddedFont>
      <p:font typeface="Canva Sans Bold" charset="0"/>
      <p:regular r:id="rId17"/>
    </p:embeddedFont>
    <p:embeddedFont>
      <p:font typeface="Canva Sans"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94622" autoAdjust="0"/>
  </p:normalViewPr>
  <p:slideViewPr>
    <p:cSldViewPr>
      <p:cViewPr>
        <p:scale>
          <a:sx n="58" d="100"/>
          <a:sy n="58" d="100"/>
        </p:scale>
        <p:origin x="-566" y="-1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8.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8.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400000" flipH="1" flipV="1">
            <a:off x="13890343" y="5516388"/>
            <a:ext cx="4840370" cy="6758253"/>
          </a:xfrm>
          <a:custGeom>
            <a:avLst/>
            <a:gdLst/>
            <a:ahLst/>
            <a:cxnLst/>
            <a:rect l="l" t="t" r="r" b="b"/>
            <a:pathLst>
              <a:path w="4840370" h="6758253">
                <a:moveTo>
                  <a:pt x="4840371" y="6758253"/>
                </a:moveTo>
                <a:lnTo>
                  <a:pt x="0" y="6758253"/>
                </a:lnTo>
                <a:lnTo>
                  <a:pt x="0" y="0"/>
                </a:lnTo>
                <a:lnTo>
                  <a:pt x="4840371" y="0"/>
                </a:lnTo>
                <a:lnTo>
                  <a:pt x="4840371" y="6758253"/>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212327" flipH="1">
            <a:off x="-1633813"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flipH="1">
            <a:off x="-2020970" y="4706943"/>
            <a:ext cx="7684967" cy="7684967"/>
          </a:xfrm>
          <a:custGeom>
            <a:avLst/>
            <a:gdLst/>
            <a:ahLst/>
            <a:cxnLst/>
            <a:rect l="l" t="t" r="r" b="b"/>
            <a:pathLst>
              <a:path w="7684967" h="7684967">
                <a:moveTo>
                  <a:pt x="7684968" y="0"/>
                </a:moveTo>
                <a:lnTo>
                  <a:pt x="0" y="0"/>
                </a:lnTo>
                <a:lnTo>
                  <a:pt x="0" y="7684968"/>
                </a:lnTo>
                <a:lnTo>
                  <a:pt x="7684968" y="7684968"/>
                </a:lnTo>
                <a:lnTo>
                  <a:pt x="7684968"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rot="-176744" flipV="1">
            <a:off x="12281842" y="-3234705"/>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Freeform 7"/>
          <p:cNvSpPr/>
          <p:nvPr/>
        </p:nvSpPr>
        <p:spPr>
          <a:xfrm flipV="1">
            <a:off x="12348517" y="-3496396"/>
            <a:ext cx="6992792" cy="6992792"/>
          </a:xfrm>
          <a:custGeom>
            <a:avLst/>
            <a:gdLst/>
            <a:ahLst/>
            <a:cxnLst/>
            <a:rect l="l" t="t" r="r" b="b"/>
            <a:pathLst>
              <a:path w="6992792" h="6992792">
                <a:moveTo>
                  <a:pt x="0" y="6992792"/>
                </a:moveTo>
                <a:lnTo>
                  <a:pt x="6992792" y="6992792"/>
                </a:lnTo>
                <a:lnTo>
                  <a:pt x="6992792" y="0"/>
                </a:lnTo>
                <a:lnTo>
                  <a:pt x="0" y="0"/>
                </a:lnTo>
                <a:lnTo>
                  <a:pt x="0" y="6992792"/>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8" name="TextBox 8"/>
          <p:cNvSpPr txBox="1"/>
          <p:nvPr/>
        </p:nvSpPr>
        <p:spPr>
          <a:xfrm>
            <a:off x="-76200" y="2406159"/>
            <a:ext cx="18288000" cy="3308598"/>
          </a:xfrm>
          <a:prstGeom prst="rect">
            <a:avLst/>
          </a:prstGeom>
        </p:spPr>
        <p:txBody>
          <a:bodyPr lIns="0" tIns="0" rIns="0" bIns="0" rtlCol="0" anchor="t">
            <a:spAutoFit/>
          </a:bodyPr>
          <a:lstStyle/>
          <a:p>
            <a:pPr algn="ctr">
              <a:lnSpc>
                <a:spcPts val="12880"/>
              </a:lnSpc>
            </a:pPr>
            <a:r>
              <a:rPr lang="en-US" sz="6000" b="1" dirty="0" smtClean="0">
                <a:solidFill>
                  <a:srgbClr val="000000"/>
                </a:solidFill>
                <a:latin typeface="Canva Sans Bold"/>
                <a:ea typeface="Canva Sans Bold"/>
                <a:cs typeface="Canva Sans Bold"/>
                <a:sym typeface="Canva Sans Bold"/>
              </a:rPr>
              <a:t>CAPSTONE PROJECT </a:t>
            </a:r>
          </a:p>
          <a:p>
            <a:pPr algn="ctr">
              <a:lnSpc>
                <a:spcPts val="12880"/>
              </a:lnSpc>
            </a:pPr>
            <a:r>
              <a:rPr lang="en-US" sz="6000" b="1" dirty="0" smtClean="0">
                <a:solidFill>
                  <a:srgbClr val="000000"/>
                </a:solidFill>
                <a:latin typeface="Canva Sans Bold"/>
                <a:ea typeface="Canva Sans Bold"/>
                <a:cs typeface="Canva Sans Bold"/>
                <a:sym typeface="Canva Sans Bold"/>
              </a:rPr>
              <a:t>MONTHLY EXPENSE AND BUDGET ANALYSIS</a:t>
            </a:r>
            <a:endParaRPr lang="en-US" sz="6000" b="1" dirty="0">
              <a:solidFill>
                <a:srgbClr val="000000"/>
              </a:solidFill>
              <a:latin typeface="Canva Sans Bold"/>
              <a:ea typeface="Canva Sans Bold"/>
              <a:cs typeface="Canva Sans Bold"/>
              <a:sym typeface="Canva Sans Bold"/>
            </a:endParaRPr>
          </a:p>
        </p:txBody>
      </p:sp>
      <p:sp>
        <p:nvSpPr>
          <p:cNvPr id="9" name="TextBox 9"/>
          <p:cNvSpPr txBox="1"/>
          <p:nvPr/>
        </p:nvSpPr>
        <p:spPr>
          <a:xfrm>
            <a:off x="12496771" y="6286500"/>
            <a:ext cx="3681394" cy="2957829"/>
          </a:xfrm>
          <a:prstGeom prst="rect">
            <a:avLst/>
          </a:prstGeom>
        </p:spPr>
        <p:txBody>
          <a:bodyPr lIns="0" tIns="0" rIns="0" bIns="0" rtlCol="0" anchor="t">
            <a:spAutoFit/>
          </a:bodyPr>
          <a:lstStyle/>
          <a:p>
            <a:pPr algn="ctr">
              <a:lnSpc>
                <a:spcPts val="3920"/>
              </a:lnSpc>
            </a:pPr>
            <a:r>
              <a:rPr lang="en-US" sz="2800" b="1" dirty="0">
                <a:solidFill>
                  <a:srgbClr val="000000"/>
                </a:solidFill>
                <a:latin typeface="Canva Sans Bold"/>
                <a:ea typeface="Canva Sans Bold"/>
                <a:cs typeface="Canva Sans Bold"/>
                <a:sym typeface="Canva Sans Bold"/>
              </a:rPr>
              <a:t>DONE BY 2620030037</a:t>
            </a:r>
          </a:p>
          <a:p>
            <a:pPr algn="ctr">
              <a:lnSpc>
                <a:spcPts val="3920"/>
              </a:lnSpc>
            </a:pPr>
            <a:r>
              <a:rPr lang="en-US" sz="2800" b="1" dirty="0">
                <a:solidFill>
                  <a:srgbClr val="000000"/>
                </a:solidFill>
                <a:latin typeface="Canva Sans Bold"/>
                <a:ea typeface="Canva Sans Bold"/>
                <a:cs typeface="Canva Sans Bold"/>
                <a:sym typeface="Canva Sans Bold"/>
              </a:rPr>
              <a:t>KRUTHIKA</a:t>
            </a:r>
          </a:p>
          <a:p>
            <a:pPr algn="ctr">
              <a:lnSpc>
                <a:spcPts val="3920"/>
              </a:lnSpc>
            </a:pPr>
            <a:r>
              <a:rPr lang="en-US" sz="2800" b="1" dirty="0">
                <a:solidFill>
                  <a:srgbClr val="000000"/>
                </a:solidFill>
                <a:latin typeface="Canva Sans Bold"/>
                <a:ea typeface="Canva Sans Bold"/>
                <a:cs typeface="Canva Sans Bold"/>
                <a:sym typeface="Canva Sans Bold"/>
              </a:rPr>
              <a:t>2620030052</a:t>
            </a:r>
          </a:p>
          <a:p>
            <a:pPr algn="ctr">
              <a:lnSpc>
                <a:spcPts val="3920"/>
              </a:lnSpc>
            </a:pPr>
            <a:r>
              <a:rPr lang="en-US" sz="2800" b="1" dirty="0">
                <a:solidFill>
                  <a:srgbClr val="000000"/>
                </a:solidFill>
                <a:latin typeface="Canva Sans Bold"/>
                <a:ea typeface="Canva Sans Bold"/>
                <a:cs typeface="Canva Sans Bold"/>
                <a:sym typeface="Canva Sans Bold"/>
              </a:rPr>
              <a:t>BHUVANA</a:t>
            </a:r>
          </a:p>
          <a:p>
            <a:pPr algn="ctr">
              <a:lnSpc>
                <a:spcPts val="3920"/>
              </a:lnSpc>
            </a:pPr>
            <a:r>
              <a:rPr lang="en-US" sz="2800" b="1" dirty="0">
                <a:solidFill>
                  <a:srgbClr val="000000"/>
                </a:solidFill>
                <a:latin typeface="Canva Sans Bold"/>
                <a:ea typeface="Canva Sans Bold"/>
                <a:cs typeface="Canva Sans Bold"/>
                <a:sym typeface="Canva Sans Bold"/>
              </a:rPr>
              <a:t>SECTION 2</a:t>
            </a:r>
          </a:p>
        </p:txBody>
      </p:sp>
      <p:pic>
        <p:nvPicPr>
          <p:cNvPr id="1026" name="Picture 2" descr="MAPS &amp; DIRECTIONS - Best Private University in Telangana ..."/>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893521" y="-197849"/>
            <a:ext cx="2417007" cy="22933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TextBox 5"/>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01</a:t>
            </a:r>
          </a:p>
        </p:txBody>
      </p:sp>
      <p:sp>
        <p:nvSpPr>
          <p:cNvPr id="6" name="TextBox 6"/>
          <p:cNvSpPr txBox="1"/>
          <p:nvPr/>
        </p:nvSpPr>
        <p:spPr>
          <a:xfrm>
            <a:off x="6814892" y="636300"/>
            <a:ext cx="4477475" cy="1077218"/>
          </a:xfrm>
          <a:prstGeom prst="rect">
            <a:avLst/>
          </a:prstGeom>
        </p:spPr>
        <p:txBody>
          <a:bodyPr wrap="square" lIns="0" tIns="0" rIns="0" bIns="0" rtlCol="0" anchor="t">
            <a:spAutoFit/>
          </a:bodyPr>
          <a:lstStyle/>
          <a:p>
            <a:pPr algn="ctr">
              <a:lnSpc>
                <a:spcPts val="8400"/>
              </a:lnSpc>
            </a:pPr>
            <a:r>
              <a:rPr lang="en-US" sz="6000" b="1" dirty="0">
                <a:solidFill>
                  <a:srgbClr val="000000"/>
                </a:solidFill>
                <a:latin typeface="Canva Sans Bold"/>
                <a:ea typeface="Canva Sans Bold"/>
                <a:cs typeface="Canva Sans Bold"/>
                <a:sym typeface="Canva Sans Bold"/>
              </a:rPr>
              <a:t>ABSTRACT</a:t>
            </a:r>
          </a:p>
        </p:txBody>
      </p:sp>
      <p:sp>
        <p:nvSpPr>
          <p:cNvPr id="7" name="TextBox 7"/>
          <p:cNvSpPr txBox="1"/>
          <p:nvPr/>
        </p:nvSpPr>
        <p:spPr>
          <a:xfrm>
            <a:off x="1028700" y="2777772"/>
            <a:ext cx="16049861" cy="5970865"/>
          </a:xfrm>
          <a:prstGeom prst="rect">
            <a:avLst/>
          </a:prstGeom>
        </p:spPr>
        <p:txBody>
          <a:bodyPr lIns="0" tIns="0" rIns="0" bIns="0" rtlCol="0" anchor="t">
            <a:spAutoFit/>
          </a:bodyPr>
          <a:lstStyle/>
          <a:p>
            <a:pPr algn="ctr">
              <a:lnSpc>
                <a:spcPts val="4000"/>
              </a:lnSpc>
            </a:pPr>
            <a:r>
              <a:rPr sz="3200" dirty="0">
                <a:latin typeface="Canva Sans"/>
              </a:rPr>
              <a:t>Monthly Expense and Budget Analyzer helps users record income, expenses, and savings in one organized system. Users enter expenses such as groceries, food, shopping, and transport, then compare actual spending with planned budgets.</a:t>
            </a:r>
          </a:p>
          <a:p>
            <a:endParaRPr sz="3200" dirty="0">
              <a:latin typeface="Canva Sans"/>
            </a:endParaRPr>
          </a:p>
          <a:p>
            <a:r>
              <a:rPr sz="3200" dirty="0">
                <a:latin typeface="Canva Sans"/>
              </a:rPr>
              <a:t>The program uses Java variables, arithmetic, Scanner input, conditions, loops, methods, and arrays to calculate totals and remaining balances (CO1–CO3). Classes and objects organize expense records with encapsulation, while exception handling helps manage invalid entries (CO4). String and </a:t>
            </a:r>
            <a:r>
              <a:rPr sz="3200" dirty="0" err="1">
                <a:latin typeface="Canva Sans"/>
              </a:rPr>
              <a:t>StringBuilder</a:t>
            </a:r>
            <a:r>
              <a:rPr sz="3200" dirty="0">
                <a:latin typeface="Canva Sans"/>
              </a:rPr>
              <a:t> process category names and descriptions; searching, sorting, comparison, and file I/O help find, order, compare, and save records (CO5). Collections, lambdas, functional interfaces, and Stream pipelines support flexible category-wise analysis (CO6).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74333">
            <a:off x="-299048" y="477981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TextBox 5"/>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02</a:t>
            </a:r>
          </a:p>
        </p:txBody>
      </p:sp>
      <p:sp>
        <p:nvSpPr>
          <p:cNvPr id="6" name="TextBox 6"/>
          <p:cNvSpPr txBox="1"/>
          <p:nvPr/>
        </p:nvSpPr>
        <p:spPr>
          <a:xfrm>
            <a:off x="1971152" y="981075"/>
            <a:ext cx="15038456" cy="6804427"/>
          </a:xfrm>
          <a:prstGeom prst="rect">
            <a:avLst/>
          </a:prstGeom>
        </p:spPr>
        <p:txBody>
          <a:bodyPr lIns="0" tIns="0" rIns="0" bIns="0" rtlCol="0" anchor="t">
            <a:spAutoFit/>
          </a:bodyPr>
          <a:lstStyle/>
          <a:p>
            <a:pPr algn="ctr">
              <a:lnSpc>
                <a:spcPts val="3699"/>
              </a:lnSpc>
              <a:spcBef>
                <a:spcPct val="0"/>
              </a:spcBef>
            </a:pPr>
            <a:r>
              <a:rPr sz="3600" dirty="0">
                <a:latin typeface="Canva Sans"/>
              </a:rPr>
              <a:t>The analyzer displays total monthly expenses, remaining balance, savings, and category-wise spending. It identifies the category with the highest spending and checks whether each category stays within its budget. Previous records can be searched, sorted, compared, and saved to files for later review.</a:t>
            </a:r>
          </a:p>
          <a:p>
            <a:endParaRPr sz="3600" dirty="0">
              <a:latin typeface="Canva Sans"/>
            </a:endParaRPr>
          </a:p>
          <a:p>
            <a:r>
              <a:rPr sz="3600" dirty="0">
                <a:latin typeface="Canva Sans"/>
              </a:rPr>
              <a:t>Object relationships keep budget and expense information organized; exception handling improves reliability when users enter incorrect values. Collections and Stream operations make it easier to filter and summarize expenses, helping users notice whether spending is increasing, decreasing, or staying stable. This supports students, workers, and families in making informed day-to-day financial decisions.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TextBox 5"/>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03</a:t>
            </a:r>
          </a:p>
        </p:txBody>
      </p:sp>
      <p:sp>
        <p:nvSpPr>
          <p:cNvPr id="6" name="TextBox 6"/>
          <p:cNvSpPr txBox="1"/>
          <p:nvPr/>
        </p:nvSpPr>
        <p:spPr>
          <a:xfrm>
            <a:off x="6074162" y="1071448"/>
            <a:ext cx="6194038" cy="1038746"/>
          </a:xfrm>
          <a:prstGeom prst="rect">
            <a:avLst/>
          </a:prstGeom>
        </p:spPr>
        <p:txBody>
          <a:bodyPr wrap="square" lIns="0" tIns="0" rIns="0" bIns="0" rtlCol="0" anchor="t">
            <a:spAutoFit/>
          </a:bodyPr>
          <a:lstStyle/>
          <a:p>
            <a:pPr algn="ctr">
              <a:lnSpc>
                <a:spcPts val="8120"/>
              </a:lnSpc>
            </a:pPr>
            <a:r>
              <a:rPr lang="en-US" sz="5800" b="1" dirty="0" smtClean="0">
                <a:solidFill>
                  <a:srgbClr val="000000"/>
                </a:solidFill>
                <a:latin typeface="Canva Sans Bold"/>
                <a:ea typeface="Canva Sans Bold"/>
                <a:cs typeface="Canva Sans Bold"/>
                <a:sym typeface="Canva Sans Bold"/>
              </a:rPr>
              <a:t>INTRODUCTION</a:t>
            </a:r>
            <a:endParaRPr lang="en-US" sz="5800" b="1" dirty="0">
              <a:solidFill>
                <a:srgbClr val="000000"/>
              </a:solidFill>
              <a:latin typeface="Canva Sans Bold"/>
              <a:ea typeface="Canva Sans Bold"/>
              <a:cs typeface="Canva Sans Bold"/>
              <a:sym typeface="Canva Sans Bold"/>
            </a:endParaRPr>
          </a:p>
        </p:txBody>
      </p:sp>
      <p:sp>
        <p:nvSpPr>
          <p:cNvPr id="7" name="TextBox 7"/>
          <p:cNvSpPr txBox="1"/>
          <p:nvPr/>
        </p:nvSpPr>
        <p:spPr>
          <a:xfrm>
            <a:off x="1821514" y="2552700"/>
            <a:ext cx="8067387" cy="6273512"/>
          </a:xfrm>
          <a:prstGeom prst="rect">
            <a:avLst/>
          </a:prstGeom>
        </p:spPr>
        <p:txBody>
          <a:bodyPr wrap="square" lIns="0" tIns="0" rIns="0" bIns="0" rtlCol="0" anchor="t">
            <a:spAutoFit/>
          </a:bodyPr>
          <a:lstStyle/>
          <a:p>
            <a:pPr algn="ctr">
              <a:lnSpc>
                <a:spcPts val="4642"/>
              </a:lnSpc>
              <a:spcBef>
                <a:spcPct val="0"/>
              </a:spcBef>
            </a:pPr>
            <a:r>
              <a:rPr sz="2400" dirty="0">
                <a:latin typeface="Canva Sans"/>
              </a:rPr>
              <a:t>Monthly Expense and Budget Analyzer is a Java application for managing personal finances. It records income, expenses, savings, and monthly budgets, with categories such as Food, Grocery, Shopping, and Transport.</a:t>
            </a:r>
          </a:p>
          <a:p>
            <a:endParaRPr sz="2400" dirty="0">
              <a:latin typeface="Canva Sans"/>
            </a:endParaRPr>
          </a:p>
          <a:p>
            <a:r>
              <a:rPr sz="2400" dirty="0">
                <a:latin typeface="Canva Sans"/>
              </a:rPr>
              <a:t>The program models expenses and budgets using classes and objects, protects data through encapsulation, and uses exception handling to manage invalid input. String APIs process descriptions, while file input/output preserves records for future use. Collections and Stream pipelines help summarize category-wise expenses and identify spending patterns.</a:t>
            </a:r>
          </a:p>
        </p:txBody>
      </p:sp>
      <p:sp>
        <p:nvSpPr>
          <p:cNvPr id="8" name="AutoShape 2" descr="Generated image 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4" descr="Generated image 1"/>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6" descr="Generated image 1"/>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8" descr="Generated image 1"/>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81"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0" y="1661319"/>
            <a:ext cx="6964362" cy="696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TextBox 5"/>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04</a:t>
            </a:r>
          </a:p>
        </p:txBody>
      </p:sp>
      <p:sp>
        <p:nvSpPr>
          <p:cNvPr id="6" name="TextBox 6"/>
          <p:cNvSpPr txBox="1"/>
          <p:nvPr/>
        </p:nvSpPr>
        <p:spPr>
          <a:xfrm>
            <a:off x="3886200" y="1635956"/>
            <a:ext cx="10627419" cy="948978"/>
          </a:xfrm>
          <a:prstGeom prst="rect">
            <a:avLst/>
          </a:prstGeom>
        </p:spPr>
        <p:txBody>
          <a:bodyPr wrap="square" lIns="0" tIns="0" rIns="0" bIns="0" rtlCol="0" anchor="t">
            <a:spAutoFit/>
          </a:bodyPr>
          <a:lstStyle/>
          <a:p>
            <a:pPr algn="ctr">
              <a:lnSpc>
                <a:spcPts val="7420"/>
              </a:lnSpc>
            </a:pPr>
            <a:r>
              <a:rPr lang="en-US" sz="5300" b="1" dirty="0">
                <a:solidFill>
                  <a:srgbClr val="000000"/>
                </a:solidFill>
                <a:latin typeface="Canva Sans Bold"/>
                <a:ea typeface="Canva Sans Bold"/>
                <a:cs typeface="Canva Sans Bold"/>
                <a:sym typeface="Canva Sans Bold"/>
              </a:rPr>
              <a:t>PROJECT OBJECTIVES</a:t>
            </a:r>
          </a:p>
        </p:txBody>
      </p:sp>
      <p:sp>
        <p:nvSpPr>
          <p:cNvPr id="7" name="TextBox 7"/>
          <p:cNvSpPr txBox="1"/>
          <p:nvPr/>
        </p:nvSpPr>
        <p:spPr>
          <a:xfrm>
            <a:off x="1142999" y="2634941"/>
            <a:ext cx="9234835" cy="5740033"/>
          </a:xfrm>
          <a:prstGeom prst="rect">
            <a:avLst/>
          </a:prstGeom>
        </p:spPr>
        <p:txBody>
          <a:bodyPr wrap="square" lIns="0" tIns="0" rIns="0" bIns="0" rtlCol="0" anchor="t">
            <a:spAutoFit/>
          </a:bodyPr>
          <a:lstStyle/>
          <a:p>
            <a:pPr algn="ctr">
              <a:lnSpc>
                <a:spcPts val="5099"/>
              </a:lnSpc>
              <a:spcBef>
                <a:spcPct val="0"/>
              </a:spcBef>
            </a:pPr>
            <a:r>
              <a:rPr sz="2400" dirty="0">
                <a:latin typeface="Canva Sans"/>
              </a:rPr>
              <a:t>Record monthly income and daily expenses using console input.</a:t>
            </a:r>
          </a:p>
          <a:p>
            <a:r>
              <a:rPr sz="2400" dirty="0">
                <a:latin typeface="Canva Sans"/>
              </a:rPr>
              <a:t>Calculate total expenses, remaining balance, and savings with arithmetic, methods, and arrays.</a:t>
            </a:r>
          </a:p>
          <a:p>
            <a:r>
              <a:rPr sz="2400" dirty="0">
                <a:latin typeface="Canva Sans"/>
              </a:rPr>
              <a:t>Set and monitor budgets for different expense categories using conditions and loops.</a:t>
            </a:r>
          </a:p>
          <a:p>
            <a:r>
              <a:rPr sz="2400" dirty="0">
                <a:latin typeface="Canva Sans"/>
              </a:rPr>
              <a:t>Model expense and budget records with classes, objects, encapsulation, and relationships.</a:t>
            </a:r>
          </a:p>
          <a:p>
            <a:r>
              <a:rPr sz="2400" dirty="0">
                <a:latin typeface="Canva Sans"/>
              </a:rPr>
              <a:t>Validate input and handle errors using Java exception handling.</a:t>
            </a:r>
          </a:p>
          <a:p>
            <a:r>
              <a:rPr sz="2400" dirty="0">
                <a:latin typeface="Canva Sans"/>
              </a:rPr>
              <a:t>Search, sort, compare, and save expense records using String APIs, standard algorithms, and file I/O.</a:t>
            </a:r>
          </a:p>
          <a:p>
            <a:r>
              <a:rPr sz="2400" dirty="0">
                <a:latin typeface="Canva Sans"/>
              </a:rPr>
              <a:t>Use Collections, lambdas, functional interfaces, and Streams for category-wise summaries and spending trends.</a:t>
            </a:r>
          </a:p>
        </p:txBody>
      </p:sp>
      <p:pic>
        <p:nvPicPr>
          <p:cNvPr id="2052" name="Picture 4" descr="Free Monthly Budget Template for Excel | Shortcut"/>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392122" y="3009900"/>
            <a:ext cx="7239000" cy="5181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819984" y="-121475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TextBox 5"/>
          <p:cNvSpPr txBox="1"/>
          <p:nvPr/>
        </p:nvSpPr>
        <p:spPr>
          <a:xfrm>
            <a:off x="16214256" y="9019603"/>
            <a:ext cx="1271574" cy="803430"/>
          </a:xfrm>
          <a:prstGeom prst="rect">
            <a:avLst/>
          </a:prstGeom>
        </p:spPr>
        <p:txBody>
          <a:bodyPr lIns="0" tIns="0" rIns="0" bIns="0" rtlCol="0" anchor="t">
            <a:spAutoFit/>
          </a:bodyPr>
          <a:lstStyle/>
          <a:p>
            <a:pPr algn="ctr">
              <a:lnSpc>
                <a:spcPts val="6641"/>
              </a:lnSpc>
              <a:spcBef>
                <a:spcPct val="0"/>
              </a:spcBef>
            </a:pPr>
            <a:r>
              <a:rPr lang="en-US" sz="4743" b="1">
                <a:solidFill>
                  <a:srgbClr val="545454"/>
                </a:solidFill>
                <a:latin typeface="Garet Bold"/>
                <a:ea typeface="Garet Bold"/>
                <a:cs typeface="Garet Bold"/>
                <a:sym typeface="Garet Bold"/>
              </a:rPr>
              <a:t>05</a:t>
            </a:r>
          </a:p>
        </p:txBody>
      </p:sp>
      <p:sp>
        <p:nvSpPr>
          <p:cNvPr id="6" name="TextBox 6"/>
          <p:cNvSpPr txBox="1"/>
          <p:nvPr/>
        </p:nvSpPr>
        <p:spPr>
          <a:xfrm>
            <a:off x="6553200" y="952500"/>
            <a:ext cx="4947473" cy="936154"/>
          </a:xfrm>
          <a:prstGeom prst="rect">
            <a:avLst/>
          </a:prstGeom>
        </p:spPr>
        <p:txBody>
          <a:bodyPr wrap="square" lIns="0" tIns="0" rIns="0" bIns="0" rtlCol="0" anchor="t">
            <a:spAutoFit/>
          </a:bodyPr>
          <a:lstStyle/>
          <a:p>
            <a:pPr algn="ctr">
              <a:lnSpc>
                <a:spcPts val="7280"/>
              </a:lnSpc>
            </a:pPr>
            <a:r>
              <a:rPr lang="en-US" sz="5200" b="1" dirty="0">
                <a:solidFill>
                  <a:srgbClr val="000000"/>
                </a:solidFill>
                <a:latin typeface="Canva Sans Bold"/>
                <a:ea typeface="Canva Sans Bold"/>
                <a:cs typeface="Canva Sans Bold"/>
                <a:sym typeface="Canva Sans Bold"/>
              </a:rPr>
              <a:t>ADVANTAGES</a:t>
            </a:r>
          </a:p>
        </p:txBody>
      </p:sp>
      <p:sp>
        <p:nvSpPr>
          <p:cNvPr id="8" name="TextBox 8"/>
          <p:cNvSpPr txBox="1"/>
          <p:nvPr/>
        </p:nvSpPr>
        <p:spPr>
          <a:xfrm>
            <a:off x="1600201" y="2256427"/>
            <a:ext cx="8305799" cy="6627455"/>
          </a:xfrm>
          <a:prstGeom prst="rect">
            <a:avLst/>
          </a:prstGeom>
        </p:spPr>
        <p:txBody>
          <a:bodyPr wrap="square" lIns="0" tIns="0" rIns="0" bIns="0" rtlCol="0" anchor="t">
            <a:spAutoFit/>
          </a:bodyPr>
          <a:lstStyle/>
          <a:p>
            <a:pPr algn="ctr">
              <a:lnSpc>
                <a:spcPts val="3969"/>
              </a:lnSpc>
            </a:pPr>
            <a:r>
              <a:rPr sz="2800" dirty="0">
                <a:latin typeface="Canva Sans"/>
              </a:rPr>
              <a:t>Easy and organized tracking of personal expenses.</a:t>
            </a:r>
          </a:p>
          <a:p>
            <a:r>
              <a:rPr sz="2800" dirty="0">
                <a:latin typeface="Canva Sans"/>
              </a:rPr>
              <a:t>Shows remaining balance and total savings clearly.</a:t>
            </a:r>
          </a:p>
          <a:p>
            <a:r>
              <a:rPr sz="2800" dirty="0">
                <a:latin typeface="Canva Sans"/>
              </a:rPr>
              <a:t>Uses classes and encapsulation to organize and protect expense data.</a:t>
            </a:r>
          </a:p>
          <a:p>
            <a:r>
              <a:rPr sz="2800" dirty="0">
                <a:latin typeface="Canva Sans"/>
              </a:rPr>
              <a:t>Handles invalid entries more safely with exception handling.</a:t>
            </a:r>
          </a:p>
          <a:p>
            <a:r>
              <a:rPr sz="2800" dirty="0">
                <a:latin typeface="Canva Sans"/>
              </a:rPr>
              <a:t>Allows expense descriptions and categories to be processed, searched, sorted, and compared.</a:t>
            </a:r>
          </a:p>
          <a:p>
            <a:r>
              <a:rPr sz="2800" dirty="0">
                <a:latin typeface="Canva Sans"/>
              </a:rPr>
              <a:t>Saves records in files so previous months can be reviewed.</a:t>
            </a:r>
          </a:p>
          <a:p>
            <a:r>
              <a:rPr sz="2800" dirty="0">
                <a:latin typeface="Canva Sans"/>
              </a:rPr>
              <a:t>Uses collections and Stream operations to identify high-spending categories and summarize expenses.</a:t>
            </a:r>
          </a:p>
        </p:txBody>
      </p:sp>
      <p:pic>
        <p:nvPicPr>
          <p:cNvPr id="1026" name="Picture 2" descr="Rastreador mensual de gastos para estudiantes universitarios | FinancialAha!"/>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744200" y="2275477"/>
            <a:ext cx="6457949" cy="54263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TextBox 5"/>
          <p:cNvSpPr txBox="1"/>
          <p:nvPr/>
        </p:nvSpPr>
        <p:spPr>
          <a:xfrm>
            <a:off x="16214256" y="9019603"/>
            <a:ext cx="1271574" cy="773225"/>
          </a:xfrm>
          <a:prstGeom prst="rect">
            <a:avLst/>
          </a:prstGeom>
        </p:spPr>
        <p:txBody>
          <a:bodyPr lIns="0" tIns="0" rIns="0" bIns="0" rtlCol="0" anchor="t">
            <a:spAutoFit/>
          </a:bodyPr>
          <a:lstStyle/>
          <a:p>
            <a:pPr algn="ctr">
              <a:lnSpc>
                <a:spcPts val="6641"/>
              </a:lnSpc>
              <a:spcBef>
                <a:spcPct val="0"/>
              </a:spcBef>
            </a:pPr>
            <a:r>
              <a:rPr lang="en-US" sz="4743" b="1" dirty="0" smtClean="0">
                <a:solidFill>
                  <a:srgbClr val="545454"/>
                </a:solidFill>
                <a:latin typeface="Garet Bold"/>
                <a:ea typeface="Garet Bold"/>
                <a:cs typeface="Garet Bold"/>
                <a:sym typeface="Garet Bold"/>
              </a:rPr>
              <a:t>07</a:t>
            </a:r>
            <a:endParaRPr lang="en-US" sz="4743" b="1" dirty="0">
              <a:solidFill>
                <a:srgbClr val="545454"/>
              </a:solidFill>
              <a:latin typeface="Garet Bold"/>
              <a:ea typeface="Garet Bold"/>
              <a:cs typeface="Garet Bold"/>
              <a:sym typeface="Garet Bold"/>
            </a:endParaRPr>
          </a:p>
        </p:txBody>
      </p:sp>
      <p:sp>
        <p:nvSpPr>
          <p:cNvPr id="6" name="TextBox 6"/>
          <p:cNvSpPr txBox="1"/>
          <p:nvPr/>
        </p:nvSpPr>
        <p:spPr>
          <a:xfrm>
            <a:off x="4769920" y="952500"/>
            <a:ext cx="9197459" cy="936154"/>
          </a:xfrm>
          <a:prstGeom prst="rect">
            <a:avLst/>
          </a:prstGeom>
        </p:spPr>
        <p:txBody>
          <a:bodyPr wrap="square" lIns="0" tIns="0" rIns="0" bIns="0" rtlCol="0" anchor="t">
            <a:spAutoFit/>
          </a:bodyPr>
          <a:lstStyle/>
          <a:p>
            <a:pPr algn="ctr">
              <a:lnSpc>
                <a:spcPts val="7280"/>
              </a:lnSpc>
            </a:pPr>
            <a:r>
              <a:rPr lang="en-US" sz="5200" b="1" dirty="0">
                <a:solidFill>
                  <a:srgbClr val="000000"/>
                </a:solidFill>
                <a:latin typeface="Canva Sans Bold"/>
                <a:ea typeface="Canva Sans Bold"/>
                <a:cs typeface="Canva Sans Bold"/>
                <a:sym typeface="Canva Sans Bold"/>
              </a:rPr>
              <a:t>COURSE OUTCOMES</a:t>
            </a:r>
          </a:p>
        </p:txBody>
      </p:sp>
      <p:sp>
        <p:nvSpPr>
          <p:cNvPr id="7" name="TextBox 7"/>
          <p:cNvSpPr txBox="1"/>
          <p:nvPr/>
        </p:nvSpPr>
        <p:spPr>
          <a:xfrm>
            <a:off x="1262217" y="2724268"/>
            <a:ext cx="15228278" cy="6299160"/>
          </a:xfrm>
          <a:prstGeom prst="rect">
            <a:avLst/>
          </a:prstGeom>
        </p:spPr>
        <p:txBody>
          <a:bodyPr lIns="0" tIns="0" rIns="0" bIns="0" rtlCol="0" anchor="t">
            <a:spAutoFit/>
          </a:bodyPr>
          <a:lstStyle/>
          <a:p>
            <a:pPr algn="ctr">
              <a:lnSpc>
                <a:spcPts val="4397"/>
              </a:lnSpc>
              <a:spcBef>
                <a:spcPct val="0"/>
              </a:spcBef>
            </a:pPr>
            <a:r>
              <a:rPr sz="2400" dirty="0">
                <a:latin typeface="Canva Sans"/>
              </a:rPr>
              <a:t>CO1 – Translate the budgeting problem into a Java program using primitive types, expressions, arithmetic, and Scanner-based input/output.</a:t>
            </a:r>
          </a:p>
          <a:p>
            <a:endParaRPr sz="2400" dirty="0">
              <a:latin typeface="Canva Sans"/>
            </a:endParaRPr>
          </a:p>
          <a:p>
            <a:r>
              <a:rPr sz="2400" dirty="0">
                <a:latin typeface="Canva Sans"/>
              </a:rPr>
              <a:t>CO2 – Use selection and iteration to validate budgets, repeat expense entry, and decide whether spending is within limits.</a:t>
            </a:r>
          </a:p>
          <a:p>
            <a:endParaRPr sz="2400" dirty="0">
              <a:latin typeface="Canva Sans"/>
            </a:endParaRPr>
          </a:p>
          <a:p>
            <a:r>
              <a:rPr sz="2400" dirty="0">
                <a:latin typeface="Canva Sans"/>
              </a:rPr>
              <a:t>CO3 – Use methods and arrays to modularize calculations and store/process expense data.</a:t>
            </a:r>
          </a:p>
          <a:p>
            <a:endParaRPr sz="2400" dirty="0">
              <a:latin typeface="Canva Sans"/>
            </a:endParaRPr>
          </a:p>
          <a:p>
            <a:r>
              <a:rPr sz="2400" dirty="0">
                <a:latin typeface="Canva Sans"/>
              </a:rPr>
              <a:t>CO4 – Model expenses and budgets with classes and objects, apply encapsulation and relationships, and handle invalid input with exception handling.</a:t>
            </a:r>
          </a:p>
          <a:p>
            <a:endParaRPr sz="2400" dirty="0">
              <a:latin typeface="Canva Sans"/>
            </a:endParaRPr>
          </a:p>
          <a:p>
            <a:r>
              <a:rPr sz="2400" dirty="0">
                <a:latin typeface="Canva Sans"/>
              </a:rPr>
              <a:t>CO5 – Process category names and descriptions with String/</a:t>
            </a:r>
            <a:r>
              <a:rPr sz="2400" dirty="0" err="1">
                <a:latin typeface="Canva Sans"/>
              </a:rPr>
              <a:t>StringBuilder</a:t>
            </a:r>
            <a:r>
              <a:rPr sz="2400" dirty="0">
                <a:latin typeface="Canva Sans"/>
              </a:rPr>
              <a:t>; search, sort, compare, and persist records using file input/output.</a:t>
            </a:r>
          </a:p>
          <a:p>
            <a:endParaRPr sz="2400" dirty="0">
              <a:latin typeface="Canva Sans"/>
            </a:endParaRPr>
          </a:p>
          <a:p>
            <a:r>
              <a:rPr sz="2400" dirty="0">
                <a:latin typeface="Canva Sans"/>
              </a:rPr>
              <a:t>CO6 – Use collections, lambdas, functional interfaces, and Stream pipelines to filter, summarize, and analyze category-wise expenses.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TextBox 5"/>
          <p:cNvSpPr txBox="1"/>
          <p:nvPr/>
        </p:nvSpPr>
        <p:spPr>
          <a:xfrm>
            <a:off x="16214256" y="9019603"/>
            <a:ext cx="1271574" cy="817275"/>
          </a:xfrm>
          <a:prstGeom prst="rect">
            <a:avLst/>
          </a:prstGeom>
        </p:spPr>
        <p:txBody>
          <a:bodyPr lIns="0" tIns="0" rIns="0" bIns="0" rtlCol="0" anchor="t">
            <a:spAutoFit/>
          </a:bodyPr>
          <a:lstStyle/>
          <a:p>
            <a:pPr algn="ctr">
              <a:lnSpc>
                <a:spcPts val="6641"/>
              </a:lnSpc>
              <a:spcBef>
                <a:spcPct val="0"/>
              </a:spcBef>
            </a:pPr>
            <a:r>
              <a:rPr lang="en-US" sz="4743" b="1" dirty="0" smtClean="0">
                <a:solidFill>
                  <a:srgbClr val="545454"/>
                </a:solidFill>
                <a:latin typeface="Garet Bold"/>
                <a:ea typeface="Garet Bold"/>
                <a:cs typeface="Garet Bold"/>
                <a:sym typeface="Garet Bold"/>
              </a:rPr>
              <a:t>08</a:t>
            </a:r>
            <a:endParaRPr lang="en-US" sz="4743" b="1" dirty="0">
              <a:solidFill>
                <a:srgbClr val="545454"/>
              </a:solidFill>
              <a:latin typeface="Garet Bold"/>
              <a:ea typeface="Garet Bold"/>
              <a:cs typeface="Garet Bold"/>
              <a:sym typeface="Garet Bold"/>
            </a:endParaRPr>
          </a:p>
        </p:txBody>
      </p:sp>
      <p:sp>
        <p:nvSpPr>
          <p:cNvPr id="6" name="TextBox 6"/>
          <p:cNvSpPr txBox="1"/>
          <p:nvPr/>
        </p:nvSpPr>
        <p:spPr>
          <a:xfrm>
            <a:off x="4769920" y="952500"/>
            <a:ext cx="9197459" cy="874278"/>
          </a:xfrm>
          <a:prstGeom prst="rect">
            <a:avLst/>
          </a:prstGeom>
        </p:spPr>
        <p:txBody>
          <a:bodyPr wrap="square" lIns="0" tIns="0" rIns="0" bIns="0" rtlCol="0" anchor="t">
            <a:spAutoFit/>
          </a:bodyPr>
          <a:lstStyle/>
          <a:p>
            <a:pPr algn="ctr">
              <a:lnSpc>
                <a:spcPts val="7280"/>
              </a:lnSpc>
            </a:pPr>
            <a:r>
              <a:rPr lang="en-US" sz="5200" b="1" dirty="0" smtClean="0">
                <a:solidFill>
                  <a:srgbClr val="000000"/>
                </a:solidFill>
                <a:latin typeface="Canva Sans Bold"/>
                <a:ea typeface="Canva Sans Bold"/>
                <a:cs typeface="Canva Sans Bold"/>
                <a:sym typeface="Canva Sans Bold"/>
              </a:rPr>
              <a:t>CONCLUSION</a:t>
            </a:r>
          </a:p>
        </p:txBody>
      </p:sp>
      <p:sp>
        <p:nvSpPr>
          <p:cNvPr id="7" name="TextBox 7"/>
          <p:cNvSpPr txBox="1"/>
          <p:nvPr/>
        </p:nvSpPr>
        <p:spPr>
          <a:xfrm>
            <a:off x="1262217" y="2724268"/>
            <a:ext cx="15228278" cy="4924425"/>
          </a:xfrm>
          <a:prstGeom prst="rect">
            <a:avLst/>
          </a:prstGeom>
        </p:spPr>
        <p:txBody>
          <a:bodyPr lIns="0" tIns="0" rIns="0" bIns="0" rtlCol="0" anchor="t">
            <a:spAutoFit/>
          </a:bodyPr>
          <a:lstStyle/>
          <a:p>
            <a:r>
              <a:rPr sz="3200" dirty="0">
                <a:latin typeface="Canva Sans"/>
              </a:rPr>
              <a:t>Helps users track monthly income and expenses easily.</a:t>
            </a:r>
          </a:p>
          <a:p>
            <a:r>
              <a:rPr sz="3200" dirty="0">
                <a:latin typeface="Canva Sans"/>
              </a:rPr>
              <a:t>Provides category-wise analysis and identifies high-spending areas.</a:t>
            </a:r>
          </a:p>
          <a:p>
            <a:r>
              <a:rPr sz="3200" dirty="0">
                <a:latin typeface="Canva Sans"/>
              </a:rPr>
              <a:t>Uses Java control flow, methods, and arrays for calculations and budget checks.</a:t>
            </a:r>
          </a:p>
          <a:p>
            <a:r>
              <a:rPr sz="3200" dirty="0">
                <a:latin typeface="Canva Sans"/>
              </a:rPr>
              <a:t>Organizes records with classes and encapsulation, and improves reliability through exception handling.</a:t>
            </a:r>
          </a:p>
          <a:p>
            <a:r>
              <a:rPr sz="3200" dirty="0">
                <a:latin typeface="Canva Sans"/>
              </a:rPr>
              <a:t>Searches, sorts, compares, and saves expense records for future reference.</a:t>
            </a:r>
          </a:p>
          <a:p>
            <a:r>
              <a:rPr sz="3200" dirty="0">
                <a:latin typeface="Canva Sans"/>
              </a:rPr>
              <a:t>Uses collections and Stream pipelines to summarize spending trends.</a:t>
            </a:r>
          </a:p>
          <a:p>
            <a:r>
              <a:rPr sz="3200" dirty="0">
                <a:latin typeface="Canva Sans"/>
              </a:rPr>
              <a:t>Overall, the project combines CO1–CO6 concepts to support better budgeting and financial planning.</a:t>
            </a:r>
          </a:p>
        </p:txBody>
      </p:sp>
    </p:spTree>
    <p:extLst>
      <p:ext uri="{BB962C8B-B14F-4D97-AF65-F5344CB8AC3E}">
        <p14:creationId xmlns:p14="http://schemas.microsoft.com/office/powerpoint/2010/main" val="50454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869857" y="-1378042"/>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AutoShape 4"/>
          <p:cNvSpPr/>
          <p:nvPr/>
        </p:nvSpPr>
        <p:spPr>
          <a:xfrm>
            <a:off x="4541415" y="9464180"/>
            <a:ext cx="11672841" cy="0"/>
          </a:xfrm>
          <a:prstGeom prst="line">
            <a:avLst/>
          </a:prstGeom>
          <a:ln w="9525" cap="flat">
            <a:solidFill>
              <a:srgbClr val="545454"/>
            </a:solidFill>
            <a:prstDash val="solid"/>
            <a:headEnd type="none" w="sm" len="sm"/>
            <a:tailEnd type="none" w="sm" len="sm"/>
          </a:ln>
        </p:spPr>
      </p:sp>
      <p:sp>
        <p:nvSpPr>
          <p:cNvPr id="5" name="TextBox 5"/>
          <p:cNvSpPr txBox="1"/>
          <p:nvPr/>
        </p:nvSpPr>
        <p:spPr>
          <a:xfrm>
            <a:off x="16214256" y="9019603"/>
            <a:ext cx="1271574" cy="773225"/>
          </a:xfrm>
          <a:prstGeom prst="rect">
            <a:avLst/>
          </a:prstGeom>
        </p:spPr>
        <p:txBody>
          <a:bodyPr lIns="0" tIns="0" rIns="0" bIns="0" rtlCol="0" anchor="t">
            <a:spAutoFit/>
          </a:bodyPr>
          <a:lstStyle/>
          <a:p>
            <a:pPr algn="ctr">
              <a:lnSpc>
                <a:spcPts val="6641"/>
              </a:lnSpc>
              <a:spcBef>
                <a:spcPct val="0"/>
              </a:spcBef>
            </a:pPr>
            <a:r>
              <a:rPr lang="en-US" sz="4743" b="1" dirty="0" smtClean="0">
                <a:solidFill>
                  <a:srgbClr val="545454"/>
                </a:solidFill>
                <a:latin typeface="Garet Bold"/>
                <a:ea typeface="Garet Bold"/>
                <a:cs typeface="Garet Bold"/>
                <a:sym typeface="Garet Bold"/>
              </a:rPr>
              <a:t>09</a:t>
            </a:r>
            <a:endParaRPr lang="en-US" sz="4743" b="1" dirty="0">
              <a:solidFill>
                <a:srgbClr val="545454"/>
              </a:solidFill>
              <a:latin typeface="Garet Bold"/>
              <a:ea typeface="Garet Bold"/>
              <a:cs typeface="Garet Bold"/>
              <a:sym typeface="Garet Bold"/>
            </a:endParaRPr>
          </a:p>
        </p:txBody>
      </p:sp>
      <p:sp>
        <p:nvSpPr>
          <p:cNvPr id="6" name="TextBox 6"/>
          <p:cNvSpPr txBox="1"/>
          <p:nvPr/>
        </p:nvSpPr>
        <p:spPr>
          <a:xfrm>
            <a:off x="5098315" y="1269743"/>
            <a:ext cx="7066974" cy="936154"/>
          </a:xfrm>
          <a:prstGeom prst="rect">
            <a:avLst/>
          </a:prstGeom>
        </p:spPr>
        <p:txBody>
          <a:bodyPr wrap="square" lIns="0" tIns="0" rIns="0" bIns="0" rtlCol="0" anchor="t">
            <a:spAutoFit/>
          </a:bodyPr>
          <a:lstStyle/>
          <a:p>
            <a:pPr algn="ctr">
              <a:lnSpc>
                <a:spcPts val="7280"/>
              </a:lnSpc>
            </a:pPr>
            <a:r>
              <a:rPr lang="en-US" sz="5200" b="1" dirty="0">
                <a:solidFill>
                  <a:srgbClr val="000000"/>
                </a:solidFill>
                <a:latin typeface="Canva Sans Bold"/>
                <a:ea typeface="Canva Sans Bold"/>
                <a:cs typeface="Canva Sans Bold"/>
                <a:sym typeface="Canva Sans Bold"/>
              </a:rPr>
              <a:t>FUTURE SCOPE</a:t>
            </a:r>
          </a:p>
        </p:txBody>
      </p:sp>
      <p:sp>
        <p:nvSpPr>
          <p:cNvPr id="7" name="TextBox 7"/>
          <p:cNvSpPr txBox="1"/>
          <p:nvPr/>
        </p:nvSpPr>
        <p:spPr>
          <a:xfrm>
            <a:off x="3505200" y="2552700"/>
            <a:ext cx="10418450" cy="6537687"/>
          </a:xfrm>
          <a:prstGeom prst="rect">
            <a:avLst/>
          </a:prstGeom>
        </p:spPr>
        <p:txBody>
          <a:bodyPr lIns="0" tIns="0" rIns="0" bIns="0" rtlCol="0" anchor="t">
            <a:spAutoFit/>
          </a:bodyPr>
          <a:lstStyle/>
          <a:p>
            <a:pPr algn="ctr">
              <a:lnSpc>
                <a:spcPts val="4900"/>
              </a:lnSpc>
            </a:pPr>
            <a:r>
              <a:rPr sz="3200" dirty="0">
                <a:latin typeface="Canva Sans"/>
              </a:rPr>
              <a:t>Add a mobile or web-based interface.</a:t>
            </a:r>
          </a:p>
          <a:p>
            <a:r>
              <a:rPr sz="3200" dirty="0">
                <a:latin typeface="Canva Sans"/>
              </a:rPr>
              <a:t>Display charts and graphs for visual spending analysis.</a:t>
            </a:r>
          </a:p>
          <a:p>
            <a:r>
              <a:rPr sz="3200" dirty="0">
                <a:latin typeface="Canva Sans"/>
              </a:rPr>
              <a:t>Provide alerts when a category approaches or exceeds its budget.</a:t>
            </a:r>
          </a:p>
          <a:p>
            <a:r>
              <a:rPr sz="3200" dirty="0">
                <a:latin typeface="Canva Sans"/>
              </a:rPr>
              <a:t>Improve file storage with secure backups and user login.</a:t>
            </a:r>
          </a:p>
          <a:p>
            <a:r>
              <a:rPr sz="3200" dirty="0">
                <a:latin typeface="Canva Sans"/>
              </a:rPr>
              <a:t>Use collections and Stream-based summaries to generate monthly reports.</a:t>
            </a:r>
          </a:p>
          <a:p>
            <a:r>
              <a:rPr sz="3200" dirty="0">
                <a:latin typeface="Canva Sans"/>
              </a:rPr>
              <a:t>Extend searching and sorting to compare records across months.</a:t>
            </a:r>
          </a:p>
          <a:p>
            <a:r>
              <a:rPr sz="3200" dirty="0">
                <a:latin typeface="Canva Sans"/>
              </a:rPr>
              <a:t>Explore secure cloud storage and bank or digital-wallet integration.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9E9"/>
        </a:solidFill>
        <a:effectLst/>
      </p:bgPr>
    </p:bg>
    <p:spTree>
      <p:nvGrpSpPr>
        <p:cNvPr id="1" name=""/>
        <p:cNvGrpSpPr/>
        <p:nvPr/>
      </p:nvGrpSpPr>
      <p:grpSpPr>
        <a:xfrm>
          <a:off x="0" y="0"/>
          <a:ext cx="0" cy="0"/>
          <a:chOff x="0" y="0"/>
          <a:chExt cx="0" cy="0"/>
        </a:xfrm>
      </p:grpSpPr>
      <p:sp>
        <p:nvSpPr>
          <p:cNvPr id="2" name="Freeform 2"/>
          <p:cNvSpPr/>
          <p:nvPr/>
        </p:nvSpPr>
        <p:spPr>
          <a:xfrm rot="5400000">
            <a:off x="-598671" y="-1743170"/>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668325" y="4041844"/>
            <a:ext cx="12951349" cy="1974712"/>
          </a:xfrm>
          <a:prstGeom prst="rect">
            <a:avLst/>
          </a:prstGeom>
        </p:spPr>
        <p:txBody>
          <a:bodyPr lIns="0" tIns="0" rIns="0" bIns="0" rtlCol="0" anchor="t">
            <a:spAutoFit/>
          </a:bodyPr>
          <a:lstStyle/>
          <a:p>
            <a:pPr algn="ctr">
              <a:lnSpc>
                <a:spcPts val="16107"/>
              </a:lnSpc>
            </a:pPr>
            <a:r>
              <a:rPr lang="en-US" sz="11505" b="1" dirty="0">
                <a:solidFill>
                  <a:srgbClr val="3F3D3E"/>
                </a:solidFill>
                <a:latin typeface="Alexandria Bold"/>
                <a:ea typeface="Alexandria Bold"/>
                <a:cs typeface="Alexandria Bold"/>
                <a:sym typeface="Alexandria Bold"/>
              </a:rPr>
              <a:t>THANK YOU</a:t>
            </a:r>
          </a:p>
        </p:txBody>
      </p:sp>
      <p:sp>
        <p:nvSpPr>
          <p:cNvPr id="4" name="Freeform 4"/>
          <p:cNvSpPr/>
          <p:nvPr/>
        </p:nvSpPr>
        <p:spPr>
          <a:xfrm rot="-574333">
            <a:off x="-598671" y="5498906"/>
            <a:ext cx="4840370" cy="6758253"/>
          </a:xfrm>
          <a:custGeom>
            <a:avLst/>
            <a:gdLst/>
            <a:ahLst/>
            <a:cxnLst/>
            <a:rect l="l" t="t" r="r" b="b"/>
            <a:pathLst>
              <a:path w="4840370" h="6758253">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834</Words>
  <Application>Microsoft Office PowerPoint</Application>
  <PresentationFormat>Custom</PresentationFormat>
  <Paragraphs>71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Alexandria Bold</vt:lpstr>
      <vt:lpstr>Garet Bold</vt:lpstr>
      <vt:lpstr>Calibri</vt:lpstr>
      <vt:lpstr>Canva Sans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Minimalist Professional Project Presentation</dc:title>
  <dc:creator>HAPPY</dc:creator>
  <cp:lastModifiedBy>HAPPY</cp:lastModifiedBy>
  <cp:revision>12</cp:revision>
  <dcterms:created xsi:type="dcterms:W3CDTF">2006-08-16T00:00:00Z</dcterms:created>
  <dcterms:modified xsi:type="dcterms:W3CDTF">2026-10-14T03:21:19Z</dcterms:modified>
  <dc:identifier>DAHV0BV_Qmc</dc:identifier>
</cp:coreProperties>
</file>